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3" r:id="rId3"/>
    <p:sldId id="257" r:id="rId4"/>
    <p:sldId id="263" r:id="rId5"/>
    <p:sldId id="297" r:id="rId6"/>
    <p:sldId id="298" r:id="rId7"/>
    <p:sldId id="300" r:id="rId8"/>
    <p:sldId id="301" r:id="rId9"/>
    <p:sldId id="303" r:id="rId10"/>
    <p:sldId id="304" r:id="rId11"/>
    <p:sldId id="306" r:id="rId12"/>
    <p:sldId id="305" r:id="rId13"/>
    <p:sldId id="307" r:id="rId14"/>
    <p:sldId id="308" r:id="rId15"/>
    <p:sldId id="309" r:id="rId16"/>
    <p:sldId id="310" r:id="rId17"/>
    <p:sldId id="312" r:id="rId18"/>
    <p:sldId id="311" r:id="rId19"/>
    <p:sldId id="29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81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0AD84-CAA3-420A-BCAF-ACF82C72856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3141F-2EC1-4965-A570-047C1376B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8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5C1E-AB7F-3D32-1F44-234AEFEA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C82C2-F3FB-3958-F57E-BEAF06E65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BFD87-D216-0900-CADF-F83F13F28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22707-48DC-7E73-A486-9F448EFF4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3141F-2EC1-4965-A570-047C1376BF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20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3141F-2EC1-4965-A570-047C1376BF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65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datasets/jayjoshi37/icu-patient-monitoring-and-mortality-prediction?resource=downloa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SpotsMom/AI_380H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ICU Mortality Prediction Tutorial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step by step ML workflow to Predict ICU mortality using public ICU mortality dataset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27B0-8647-8DC0-60A9-83E55A8A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388F-AFFC-D66B-8DE5-1A087611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60" y="219238"/>
            <a:ext cx="8229600" cy="69209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9740B-727C-9D81-8C2C-76AC5EA31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893"/>
            <a:ext cx="8229600" cy="4728490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Summary</a:t>
            </a:r>
          </a:p>
          <a:p>
            <a:r>
              <a:rPr lang="en-US" sz="2400" dirty="0"/>
              <a:t>Exploratory Data Analysis</a:t>
            </a:r>
          </a:p>
          <a:p>
            <a:pPr lvl="1"/>
            <a:r>
              <a:rPr lang="en-US" sz="2000" dirty="0"/>
              <a:t>Dataset extraction</a:t>
            </a:r>
          </a:p>
          <a:p>
            <a:pPr lvl="1"/>
            <a:r>
              <a:rPr lang="en-US" sz="2000" dirty="0"/>
              <a:t>Data Analysis</a:t>
            </a:r>
          </a:p>
          <a:p>
            <a:pPr lvl="1"/>
            <a:r>
              <a:rPr lang="en-US" sz="2000" dirty="0"/>
              <a:t>Data Cleansing</a:t>
            </a:r>
          </a:p>
          <a:p>
            <a:r>
              <a:rPr lang="en-US" sz="2400" dirty="0"/>
              <a:t>Machine Learning Models</a:t>
            </a:r>
          </a:p>
          <a:p>
            <a:pPr lvl="1"/>
            <a:r>
              <a:rPr lang="en-US" sz="2000" dirty="0"/>
              <a:t>Logistic Regression Model and </a:t>
            </a:r>
          </a:p>
          <a:p>
            <a:pPr lvl="1"/>
            <a:r>
              <a:rPr lang="en-US" sz="2000" dirty="0"/>
              <a:t>Random Forest Model</a:t>
            </a:r>
          </a:p>
          <a:p>
            <a:r>
              <a:rPr lang="en-US" sz="2400" dirty="0"/>
              <a:t>Codes</a:t>
            </a:r>
          </a:p>
          <a:p>
            <a:pPr lvl="1"/>
            <a:r>
              <a:rPr lang="en-US" sz="2000" dirty="0"/>
              <a:t>.</a:t>
            </a:r>
            <a:r>
              <a:rPr lang="en-US" sz="2000" dirty="0" err="1"/>
              <a:t>venv</a:t>
            </a:r>
            <a:endParaRPr lang="en-US" sz="2000" dirty="0"/>
          </a:p>
          <a:p>
            <a:pPr lvl="1"/>
            <a:r>
              <a:rPr lang="en-US" sz="2000" dirty="0"/>
              <a:t>icu_data_analysis_and_cleansing.py</a:t>
            </a:r>
          </a:p>
          <a:p>
            <a:pPr lvl="1"/>
            <a:r>
              <a:rPr lang="en-US" sz="2000" dirty="0"/>
              <a:t>icu_mortality_logreg.py</a:t>
            </a:r>
          </a:p>
          <a:p>
            <a:pPr lvl="1"/>
            <a:r>
              <a:rPr lang="en-US" sz="2000" dirty="0"/>
              <a:t>icu_mortality_balanced_models.py</a:t>
            </a:r>
          </a:p>
          <a:p>
            <a:pPr lvl="1"/>
            <a:endParaRPr lang="en-US" sz="2000" dirty="0"/>
          </a:p>
          <a:p>
            <a:r>
              <a:rPr lang="en-US" sz="2400" dirty="0"/>
              <a:t>Result Analysis (Evaluation)</a:t>
            </a:r>
          </a:p>
          <a:p>
            <a:pPr lvl="1"/>
            <a:r>
              <a:rPr lang="en-US" sz="2000" dirty="0"/>
              <a:t>Logistic Regression Model with Original Dataset</a:t>
            </a:r>
          </a:p>
          <a:p>
            <a:pPr lvl="1"/>
            <a:r>
              <a:rPr lang="en-US" sz="2000" dirty="0"/>
              <a:t>Balanced Logistic Regression Model and Random Forest Model with Cleansing Dataset</a:t>
            </a:r>
          </a:p>
          <a:p>
            <a:r>
              <a:rPr lang="en-US" sz="2400" dirty="0"/>
              <a:t>Conclusion</a:t>
            </a:r>
          </a:p>
          <a:p>
            <a:endParaRPr lang="en-US" sz="2400" dirty="0"/>
          </a:p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5613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060" y="182416"/>
            <a:ext cx="8229600" cy="69209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Summary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CFEB1-4F6C-9688-8B9A-E32CEF0905A7}"/>
              </a:ext>
            </a:extLst>
          </p:cNvPr>
          <p:cNvSpPr txBox="1"/>
          <p:nvPr/>
        </p:nvSpPr>
        <p:spPr>
          <a:xfrm>
            <a:off x="954290" y="899059"/>
            <a:ext cx="723542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Purpose: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Build a supervised ML classifier with ICU dataset to predict mortality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Demonstrate the pipeline: data extraction -&gt; cleaning -&gt; modeling -&gt;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Background:</a:t>
            </a:r>
          </a:p>
          <a:p>
            <a:pPr lvl="1"/>
            <a:r>
              <a:rPr lang="en-US" sz="2000" dirty="0"/>
              <a:t>Mortality prediction plays a critical role in the intensive care unit (ICU) due to rapid changes in patient’s condition. Through reliable tools to identify risk factors, early intervention can be applied effectively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ML for ICU predictive risk model: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High dimension of ICU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Non-linear and complex risk factors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Large dataset for training, and optimize for generalization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FDFB2-51BE-204D-A2FE-DF2C0BC2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0AB0-5576-3AD9-CE9B-7D42E9F6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31" y="327394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EDA I</a:t>
            </a:r>
            <a:br>
              <a:rPr lang="en-US" sz="4000" dirty="0"/>
            </a:br>
            <a:r>
              <a:rPr lang="en-US" sz="3100" dirty="0"/>
              <a:t>Exploratory Data Analysis</a:t>
            </a: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81CC2-C156-93A8-6FF2-CC56967A93E0}"/>
              </a:ext>
            </a:extLst>
          </p:cNvPr>
          <p:cNvSpPr txBox="1"/>
          <p:nvPr/>
        </p:nvSpPr>
        <p:spPr>
          <a:xfrm>
            <a:off x="1098507" y="1497407"/>
            <a:ext cx="718939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 Extraction: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Use public available ICU data from Kaggle: </a:t>
            </a:r>
            <a:r>
              <a:rPr lang="en-US" dirty="0">
                <a:hlinkClick r:id="rId2"/>
              </a:rPr>
              <a:t>ICU Patient Monitoring &amp; Mortality Prediction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Contains 15,000 synthetic intensive care unit (ICU) patient records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Each row represents a single ICU admission with aggregated vital sign statistics, treatment interventions, organ failure severity scores, and outcome labels.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dirty="0" err="1"/>
              <a:t>mortality_label</a:t>
            </a:r>
            <a:r>
              <a:rPr lang="en-US" dirty="0"/>
              <a:t> column represents: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0 = Survived ICU stay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1 = Deceased during ICU stay</a:t>
            </a:r>
          </a:p>
          <a:p>
            <a:pPr lvl="2" fontAlgn="base"/>
            <a:endParaRPr lang="en-US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Dataset Analysis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The mortality label distribution: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1A7B0-FCCF-EFDE-4CAF-13B19B164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757" y="4258249"/>
            <a:ext cx="3674480" cy="220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7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5EAD-A41A-4153-6A1E-97B6C3EA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5406-3CFC-03AA-9453-5495FEC8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EDA II</a:t>
            </a:r>
            <a:br>
              <a:rPr lang="en-US" sz="4000" dirty="0"/>
            </a:br>
            <a:r>
              <a:rPr lang="en-US" sz="3100" dirty="0"/>
              <a:t>Exploratory Data Analysis</a:t>
            </a: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F9A4F-378D-AE7D-F45F-92B2EAEBD69E}"/>
              </a:ext>
            </a:extLst>
          </p:cNvPr>
          <p:cNvSpPr txBox="1"/>
          <p:nvPr/>
        </p:nvSpPr>
        <p:spPr>
          <a:xfrm>
            <a:off x="1172089" y="1134052"/>
            <a:ext cx="718939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Dataset Analysis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Number of features distribution: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99567-D04A-9F2D-4D47-71B8889B4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31" y="1787667"/>
            <a:ext cx="7408410" cy="47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3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47F0-A12F-A627-E892-6CB73E6E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F319-5E5D-4458-053F-F5B4389D2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EDA III</a:t>
            </a:r>
            <a:br>
              <a:rPr lang="en-US" sz="4000" dirty="0"/>
            </a:br>
            <a:r>
              <a:rPr lang="en-US" sz="3100" dirty="0"/>
              <a:t>Exploratory Data Analysis</a:t>
            </a: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8B31-AE7B-9CB1-B8D5-E967D96A2D37}"/>
              </a:ext>
            </a:extLst>
          </p:cNvPr>
          <p:cNvSpPr txBox="1"/>
          <p:nvPr/>
        </p:nvSpPr>
        <p:spPr>
          <a:xfrm>
            <a:off x="1172089" y="1134052"/>
            <a:ext cx="718939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Dataset Analysis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Features correlation Map: </a:t>
            </a:r>
            <a:r>
              <a:rPr lang="en-US" dirty="0" err="1"/>
              <a:t>heart_rate_max</a:t>
            </a:r>
            <a:r>
              <a:rPr lang="en-US" dirty="0"/>
              <a:t>, </a:t>
            </a:r>
            <a:r>
              <a:rPr lang="en-US" dirty="0" err="1"/>
              <a:t>heart_rate_min</a:t>
            </a:r>
            <a:r>
              <a:rPr lang="en-US" dirty="0"/>
              <a:t> and </a:t>
            </a:r>
            <a:r>
              <a:rPr lang="en-US" dirty="0" err="1"/>
              <a:t>heart_rate_mean</a:t>
            </a:r>
            <a:r>
              <a:rPr lang="en-US" dirty="0"/>
              <a:t> are highly correlated due to same risk factor with different aggregation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EB19E-78E4-3B33-EA46-601797A0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664" y="2364313"/>
            <a:ext cx="6363978" cy="399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0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4047-BFBB-2ACB-5BEA-B083D690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6422-01D2-5C35-EBBC-33273EDE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EDA IV</a:t>
            </a:r>
            <a:br>
              <a:rPr lang="en-US" sz="4000" dirty="0"/>
            </a:br>
            <a:r>
              <a:rPr lang="en-US" sz="3100" dirty="0"/>
              <a:t>Exploratory Data Analysis</a:t>
            </a: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B95AE-8758-2F3A-E9DE-F9375DAE82E1}"/>
              </a:ext>
            </a:extLst>
          </p:cNvPr>
          <p:cNvSpPr txBox="1"/>
          <p:nvPr/>
        </p:nvSpPr>
        <p:spPr>
          <a:xfrm>
            <a:off x="1172089" y="1134052"/>
            <a:ext cx="71893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Dataset Analysis</a:t>
            </a:r>
          </a:p>
          <a:p>
            <a:pPr fontAlgn="base"/>
            <a:r>
              <a:rPr lang="en-US" sz="2000" dirty="0"/>
              <a:t>The next two charts show the potential high-risk factors based on correlations and mean differences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Top 10 features correlated with the mortality label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A927B8-4835-7991-D440-69BD05EA7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89" y="2683022"/>
            <a:ext cx="6726056" cy="304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6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9ADC-CC4B-5996-87B7-B9DAFDEB5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8264-EDF5-F546-AE1C-A54F9CD7D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EDA V</a:t>
            </a:r>
            <a:br>
              <a:rPr lang="en-US" sz="4000" dirty="0"/>
            </a:br>
            <a:r>
              <a:rPr lang="en-US" sz="3100" dirty="0"/>
              <a:t>Exploratory Data Analysis</a:t>
            </a: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217AC-2819-AAD6-C998-54F22041D8B9}"/>
              </a:ext>
            </a:extLst>
          </p:cNvPr>
          <p:cNvSpPr txBox="1"/>
          <p:nvPr/>
        </p:nvSpPr>
        <p:spPr>
          <a:xfrm>
            <a:off x="1172089" y="1134052"/>
            <a:ext cx="718939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Dataset Analysis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Top 10 features with largest mean differences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53799-B60A-4835-A17E-7A39CE58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18" y="1855225"/>
            <a:ext cx="7842974" cy="367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0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8BEE-9F58-0633-2A75-FDF785D3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B1D-1733-29C7-2A22-2F16E1EE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Machine Learning Models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87848-546A-6887-FD32-2DB74561E415}"/>
              </a:ext>
            </a:extLst>
          </p:cNvPr>
          <p:cNvSpPr txBox="1"/>
          <p:nvPr/>
        </p:nvSpPr>
        <p:spPr>
          <a:xfrm>
            <a:off x="1172089" y="1134052"/>
            <a:ext cx="7189393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Models used in ICU mortality prediction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Logical regression model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Classic machine learning model used for binary classification problems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Works well for linear and approximate linear relationship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Easy to understand and computationally efficient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Random Forest Model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An ensemble machine-learning method, builds many decision trees and averages predictions to improve accuracy and reduce overfitting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Capture non-linear relationship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Robust to noise and missing data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7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69F4-DA4D-F90E-9B6C-DE74842E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D831-F7E3-7807-3DEB-65E1AA91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Codes 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0569A-4657-A255-77CA-057D9B15A708}"/>
              </a:ext>
            </a:extLst>
          </p:cNvPr>
          <p:cNvSpPr txBox="1"/>
          <p:nvPr/>
        </p:nvSpPr>
        <p:spPr>
          <a:xfrm>
            <a:off x="1172089" y="1134052"/>
            <a:ext cx="718939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Virtual environment (.env)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Set up virtual environment with required packages for data analysis, ML, Charts.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Pandas, </a:t>
            </a:r>
            <a:r>
              <a:rPr lang="en-US" dirty="0" err="1"/>
              <a:t>sklearn</a:t>
            </a:r>
            <a:r>
              <a:rPr lang="en-US" dirty="0"/>
              <a:t>, matplotlib, </a:t>
            </a:r>
            <a:r>
              <a:rPr lang="en-US" dirty="0" err="1"/>
              <a:t>imblearn</a:t>
            </a:r>
            <a:r>
              <a:rPr lang="en-US" dirty="0"/>
              <a:t> and seaborn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EDA (icu_Data_analysis_and_cleansing.py)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Analyze the stats of features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Analyze correlations between features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Analyze the correlation between features and targets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Put the results in charts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Based on 30% missing rule to conduct data cleansing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Save the cleaned data for the ML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0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AF69-7CF8-651F-B39F-F8BC5B20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E330-E40A-3C3A-BC80-8A257349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Codes II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C06B8-CDB7-F84D-BDF7-9C9039FE78E6}"/>
              </a:ext>
            </a:extLst>
          </p:cNvPr>
          <p:cNvSpPr txBox="1"/>
          <p:nvPr/>
        </p:nvSpPr>
        <p:spPr>
          <a:xfrm>
            <a:off x="1052820" y="835878"/>
            <a:ext cx="7189393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Simple logistical regression model (icu_mortality_logreg.py)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All features are used, original dataset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Even though there is high correlation between </a:t>
            </a:r>
            <a:r>
              <a:rPr lang="en-US" dirty="0" err="1"/>
              <a:t>heart_rate_max</a:t>
            </a:r>
            <a:r>
              <a:rPr lang="en-US" dirty="0"/>
              <a:t>, </a:t>
            </a:r>
            <a:r>
              <a:rPr lang="en-US" dirty="0" err="1"/>
              <a:t>heart_rate_min</a:t>
            </a:r>
            <a:r>
              <a:rPr lang="en-US" dirty="0"/>
              <a:t> and </a:t>
            </a:r>
            <a:r>
              <a:rPr lang="en-US" dirty="0" err="1"/>
              <a:t>heart_rate_mean</a:t>
            </a:r>
            <a:r>
              <a:rPr lang="en-US" dirty="0"/>
              <a:t>, no action to remove any of them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Even though there is imbalance dataset between survive (o) and not survive(0), no action is taken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Key Parameters: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Test data size 0.2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 err="1"/>
              <a:t>Max_iter</a:t>
            </a:r>
            <a:r>
              <a:rPr lang="en-US" dirty="0"/>
              <a:t> =1000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 err="1"/>
              <a:t>Threhold</a:t>
            </a:r>
            <a:r>
              <a:rPr lang="en-US" dirty="0"/>
              <a:t> = 0.5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Key functions: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Call the </a:t>
            </a:r>
            <a:r>
              <a:rPr lang="en-US" dirty="0" err="1"/>
              <a:t>logisticregression</a:t>
            </a:r>
            <a:r>
              <a:rPr lang="en-US" dirty="0"/>
              <a:t> model, train the model with </a:t>
            </a:r>
            <a:r>
              <a:rPr lang="en-US" dirty="0" err="1"/>
              <a:t>max_iter</a:t>
            </a:r>
            <a:r>
              <a:rPr lang="en-US" dirty="0"/>
              <a:t>, weight 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Generate accuracy, confusion matrix and classification report for 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endParaRPr lang="en-US" dirty="0"/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370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EFAB7-C1A3-3262-B4E7-7ADCE093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FA63-DBB7-EF02-9B50-4D3278B2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Codes III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B4287-6E2D-883A-0933-D0B090C748A6}"/>
              </a:ext>
            </a:extLst>
          </p:cNvPr>
          <p:cNvSpPr txBox="1"/>
          <p:nvPr/>
        </p:nvSpPr>
        <p:spPr>
          <a:xfrm>
            <a:off x="1052820" y="835878"/>
            <a:ext cx="7189393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Balanced model (icu_mortality_balanced_models.py)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Cleaned dataset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 err="1"/>
              <a:t>heart_rate_max</a:t>
            </a:r>
            <a:r>
              <a:rPr lang="en-US" dirty="0"/>
              <a:t>, </a:t>
            </a:r>
            <a:r>
              <a:rPr lang="en-US" dirty="0" err="1"/>
              <a:t>heart_rate_min</a:t>
            </a:r>
            <a:r>
              <a:rPr lang="en-US" dirty="0"/>
              <a:t> are dropped for ML training and test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imbalance dataset between survive (o) and not survive(0) is handled through </a:t>
            </a:r>
            <a:r>
              <a:rPr lang="en-US" dirty="0" err="1"/>
              <a:t>class_weight</a:t>
            </a:r>
            <a:endParaRPr lang="en-US" dirty="0"/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Key Parameters: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Test data size = 0.2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 err="1"/>
              <a:t>Max_iter</a:t>
            </a:r>
            <a:r>
              <a:rPr lang="en-US" dirty="0"/>
              <a:t> =1000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 err="1"/>
              <a:t>Threhold</a:t>
            </a:r>
            <a:r>
              <a:rPr lang="en-US" dirty="0"/>
              <a:t> = 0.5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 err="1"/>
              <a:t>Class_weight</a:t>
            </a:r>
            <a:r>
              <a:rPr lang="en-US" dirty="0"/>
              <a:t> = balanced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Key functions: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Train the logistic regression and random forest model with the key parameters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Generate accuracy, confusion matrix and classification reports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6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927D-6E5E-5AD7-78CC-9470BC49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1437-807C-2487-8E95-A741C40E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Result Analysis (Evaluation) 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93CF5-D1D3-18DA-E29E-DA3A25F5A388}"/>
              </a:ext>
            </a:extLst>
          </p:cNvPr>
          <p:cNvSpPr txBox="1"/>
          <p:nvPr/>
        </p:nvSpPr>
        <p:spPr>
          <a:xfrm>
            <a:off x="1052820" y="835878"/>
            <a:ext cx="718939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Simple logistical regression model (icu_mortality_logreg.py)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Accuracy: 76.7%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Confusion Matrix: we can see the survivor prediction is high, but the non survivor prediction is poor. </a:t>
            </a:r>
          </a:p>
          <a:p>
            <a:pPr fontAlgn="base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CB4844-EEA8-214D-1BF2-03714E55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225" y="2071224"/>
            <a:ext cx="2756984" cy="23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35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B3AE0-148C-C105-BA51-180B7645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C1DE-40A1-F048-4B05-506A83B8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Result Analysis (Evaluation) II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F432D-6247-3B3F-F7F7-10084B2F23A5}"/>
              </a:ext>
            </a:extLst>
          </p:cNvPr>
          <p:cNvSpPr txBox="1"/>
          <p:nvPr/>
        </p:nvSpPr>
        <p:spPr>
          <a:xfrm>
            <a:off x="1052820" y="841953"/>
            <a:ext cx="718939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Simple logistical regression model (icu_mortality_logreg.py)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Detail classification Results: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For survivor (0):  works well 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of all predictions, 77% were correct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Of all actual class, 99.6% were correctly identified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Harmonic mean of precision and recall is 87%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2297 number of true samples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000" dirty="0"/>
              <a:t>   For non survivor (1):  works poor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of all predictions, 57% were correct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Of all actual class, 1.7% were correctly identified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Harmonic mean of precision and recall is 3%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600" dirty="0"/>
              <a:t>703 number of true samples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48532FC-C1D5-72ED-3E48-AD69418AE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881777"/>
              </p:ext>
            </p:extLst>
          </p:nvPr>
        </p:nvGraphicFramePr>
        <p:xfrm>
          <a:off x="5671930" y="5786236"/>
          <a:ext cx="11747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74780" imgH="526902" progId="Package">
                  <p:embed/>
                </p:oleObj>
              </mc:Choice>
              <mc:Fallback>
                <p:oleObj name="Packager Shell Object" showAsIcon="1" r:id="rId2" imgW="1174780" imgH="52690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71930" y="5786236"/>
                        <a:ext cx="11747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AAF3130-D09C-2999-E329-8569D9ECE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119" y="3139377"/>
            <a:ext cx="1959742" cy="30706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A3459E-1F8D-C1E4-6F67-3B217FA4DF4A}"/>
              </a:ext>
            </a:extLst>
          </p:cNvPr>
          <p:cNvSpPr txBox="1"/>
          <p:nvPr/>
        </p:nvSpPr>
        <p:spPr>
          <a:xfrm>
            <a:off x="1099930" y="414943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Conclusion: this simple model is very good at identify class 0 but poorly at identify class 1, suggest imbalance class may contribute to the model bias</a:t>
            </a:r>
          </a:p>
        </p:txBody>
      </p:sp>
    </p:spTree>
    <p:extLst>
      <p:ext uri="{BB962C8B-B14F-4D97-AF65-F5344CB8AC3E}">
        <p14:creationId xmlns:p14="http://schemas.microsoft.com/office/powerpoint/2010/main" val="112934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7F14-3742-E58D-49BE-4C46B092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DC4B-5702-D77B-FF30-915DF962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Result Analysis (Evaluation) III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433F3-2858-6C47-8F34-D15EBA425141}"/>
              </a:ext>
            </a:extLst>
          </p:cNvPr>
          <p:cNvSpPr txBox="1"/>
          <p:nvPr/>
        </p:nvSpPr>
        <p:spPr>
          <a:xfrm>
            <a:off x="1052820" y="841953"/>
            <a:ext cx="71893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Balanced models (icu_mortality_balanced_models.py)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Balanced Logistic regression model: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Accuracy: 57.8%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Confusion matrix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FF8A4-83FA-1A83-B9E0-14891CA4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806" y="3732874"/>
            <a:ext cx="3205666" cy="28094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D184E5-9E25-31C1-568C-D33886B87EF5}"/>
              </a:ext>
            </a:extLst>
          </p:cNvPr>
          <p:cNvSpPr txBox="1"/>
          <p:nvPr/>
        </p:nvSpPr>
        <p:spPr>
          <a:xfrm>
            <a:off x="1052820" y="208436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800" dirty="0"/>
              <a:t>Survivor prediction </a:t>
            </a:r>
            <a:r>
              <a:rPr lang="en-US" dirty="0"/>
              <a:t>accuracy is reduced</a:t>
            </a:r>
            <a:endParaRPr lang="en-US" sz="1800" dirty="0"/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dirty="0"/>
              <a:t>Non survivor prediction accuracy is improved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0008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5B1D-EDA3-921C-B7D7-3A330886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3BF8-9782-E512-0C3A-9BFA9D3A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Result Analysis (Evaluation) IV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70821-66DF-F0FE-284E-2CAA2804131D}"/>
              </a:ext>
            </a:extLst>
          </p:cNvPr>
          <p:cNvSpPr txBox="1"/>
          <p:nvPr/>
        </p:nvSpPr>
        <p:spPr>
          <a:xfrm>
            <a:off x="411172" y="841953"/>
            <a:ext cx="78310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Balanced models (icu_mortality_balanced_models.py)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Balanced Logistic regression model: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Detail classification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2EE907-A527-061E-0EC4-546D4C048B24}"/>
              </a:ext>
            </a:extLst>
          </p:cNvPr>
          <p:cNvSpPr txBox="1"/>
          <p:nvPr/>
        </p:nvSpPr>
        <p:spPr>
          <a:xfrm>
            <a:off x="72887" y="1749533"/>
            <a:ext cx="628153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800" dirty="0"/>
              <a:t>Survivor (0)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prediction precision: 77.8% were correct 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actual class, 62.7% were correctly identified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Harmonic mean of precision and recall is 69%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2297 number of true samples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dirty="0"/>
              <a:t>Non Survivor (1)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prediction precision: 25% were correct 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actual class, 41.7% were correctly identified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Harmonic mean of precision and recall is 31.6%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703 number of true samples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DAE634-04E5-C164-E981-F7B2BA0D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417" y="1611394"/>
            <a:ext cx="2491958" cy="3478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E8D392-B4EE-31A7-831E-9B2C2F610ECF}"/>
              </a:ext>
            </a:extLst>
          </p:cNvPr>
          <p:cNvSpPr txBox="1"/>
          <p:nvPr/>
        </p:nvSpPr>
        <p:spPr>
          <a:xfrm>
            <a:off x="579686" y="5489715"/>
            <a:ext cx="63975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Conclusion: balanced logistic regression model improves the non survivor prediction performance, reduced the model biased, hence the </a:t>
            </a:r>
            <a:r>
              <a:rPr lang="en-US" dirty="0" err="1"/>
              <a:t>class_weight</a:t>
            </a:r>
            <a:r>
              <a:rPr lang="en-US" dirty="0"/>
              <a:t> balanced parameter works as expected.</a:t>
            </a:r>
          </a:p>
        </p:txBody>
      </p:sp>
    </p:spTree>
    <p:extLst>
      <p:ext uri="{BB962C8B-B14F-4D97-AF65-F5344CB8AC3E}">
        <p14:creationId xmlns:p14="http://schemas.microsoft.com/office/powerpoint/2010/main" val="2248958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AE16-6167-BCB3-0F6B-374D720D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2365-E8D8-A50E-4A83-4CD5B160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Result Analysis (Evaluation) V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C683A-CDD9-EBFA-5CB3-1B6A3D9F55A3}"/>
              </a:ext>
            </a:extLst>
          </p:cNvPr>
          <p:cNvSpPr txBox="1"/>
          <p:nvPr/>
        </p:nvSpPr>
        <p:spPr>
          <a:xfrm>
            <a:off x="1052820" y="841953"/>
            <a:ext cx="71893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Balanced models (icu_mortality_balanced_models.py)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Balanced Random forest model: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Accuracy: 69.3%</a:t>
            </a:r>
          </a:p>
          <a:p>
            <a:pPr marL="1200150" lvl="2" indent="-285750" fontAlgn="base">
              <a:buFont typeface="Wingdings" panose="05000000000000000000" pitchFamily="2" charset="2"/>
              <a:buChar char="ü"/>
            </a:pPr>
            <a:r>
              <a:rPr lang="en-US" dirty="0"/>
              <a:t>Confusion matrix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1FC31-6BCC-15D1-EDBB-1E968C583A6D}"/>
              </a:ext>
            </a:extLst>
          </p:cNvPr>
          <p:cNvSpPr txBox="1"/>
          <p:nvPr/>
        </p:nvSpPr>
        <p:spPr>
          <a:xfrm>
            <a:off x="901787" y="2009596"/>
            <a:ext cx="74205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800" dirty="0"/>
              <a:t>Survivor prediction </a:t>
            </a:r>
            <a:r>
              <a:rPr lang="en-US" dirty="0"/>
              <a:t>accuracy is improved compare with balanced logistic regression model</a:t>
            </a:r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800" dirty="0"/>
              <a:t>Non-Survivor prediction accuracy is reduced compare with balanced logistic regression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7BA88-2433-C507-3073-AA9681B7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03" y="3209925"/>
            <a:ext cx="41624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50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8DC03-5463-E9D6-0AB6-9F61EA53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6BAF-1B68-DE2D-A0F9-ECDF2D6C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72" y="46506"/>
            <a:ext cx="8229600" cy="10998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Result Analysis (Evaluation) VI</a:t>
            </a:r>
            <a:br>
              <a:rPr lang="en-US" sz="4000" dirty="0"/>
            </a:br>
            <a:endParaRPr sz="3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784A6-CC5D-FD64-EF97-6BE95329DDF6}"/>
              </a:ext>
            </a:extLst>
          </p:cNvPr>
          <p:cNvSpPr txBox="1"/>
          <p:nvPr/>
        </p:nvSpPr>
        <p:spPr>
          <a:xfrm>
            <a:off x="411172" y="841953"/>
            <a:ext cx="78310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Balanced models (icu_mortality_balanced_models.py)</a:t>
            </a:r>
          </a:p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Balanced Random forest model:</a:t>
            </a:r>
          </a:p>
          <a:p>
            <a:pPr marL="1200150" lvl="2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Detail classification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74621-CC82-B86F-7C65-A5311993A04D}"/>
              </a:ext>
            </a:extLst>
          </p:cNvPr>
          <p:cNvSpPr txBox="1"/>
          <p:nvPr/>
        </p:nvSpPr>
        <p:spPr>
          <a:xfrm>
            <a:off x="72887" y="1749533"/>
            <a:ext cx="628153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sz="1800" dirty="0"/>
              <a:t>Survivor (0)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prediction precision: 76.8% were correct 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actual class, 85.9% were correctly identified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Harmonic mean of precision and recall is 81%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2297 number of true samples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1657350" lvl="3" indent="-285750" fontAlgn="base">
              <a:buFont typeface="Wingdings" panose="05000000000000000000" pitchFamily="2" charset="2"/>
              <a:buChar char="v"/>
            </a:pPr>
            <a:r>
              <a:rPr lang="en-US" dirty="0"/>
              <a:t>Non Survivor (1)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prediction precision: 24% were correct 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Of all the actual class, 15% were correctly identified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Harmonic mean of precision and recall is 18.5%</a:t>
            </a:r>
          </a:p>
          <a:p>
            <a:pPr marL="2114550" lvl="4" indent="-285750" fontAlgn="base">
              <a:buFont typeface="Wingdings" panose="05000000000000000000" pitchFamily="2" charset="2"/>
              <a:buChar char="q"/>
            </a:pPr>
            <a:r>
              <a:rPr lang="en-US" sz="1600" dirty="0"/>
              <a:t>703 number of true samples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75AFD-87ED-73ED-9DAC-3762432FDDE0}"/>
              </a:ext>
            </a:extLst>
          </p:cNvPr>
          <p:cNvSpPr txBox="1"/>
          <p:nvPr/>
        </p:nvSpPr>
        <p:spPr>
          <a:xfrm>
            <a:off x="579686" y="5489715"/>
            <a:ext cx="8352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fontAlgn="base">
              <a:buFont typeface="Wingdings" panose="05000000000000000000" pitchFamily="2" charset="2"/>
              <a:buChar char="Ø"/>
            </a:pPr>
            <a:r>
              <a:rPr lang="en-US" dirty="0"/>
              <a:t>Conclusion: compare to balanced logistic regression model, the balanced random forest model improves the overall accuracy but still bias towards the survivor class prediction. And all the code is located at </a:t>
            </a:r>
            <a:r>
              <a:rPr lang="en-US" dirty="0" err="1">
                <a:hlinkClick r:id="rId2"/>
              </a:rPr>
              <a:t>SpotsMom</a:t>
            </a:r>
            <a:r>
              <a:rPr lang="en-US" dirty="0">
                <a:hlinkClick r:id="rId2"/>
              </a:rPr>
              <a:t>/AI</a:t>
            </a:r>
            <a:r>
              <a:rPr lang="en-US">
                <a:hlinkClick r:id="rId2"/>
              </a:rPr>
              <a:t>_380H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2A778-A6B5-F745-2FFA-F132F9708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270" y="1216860"/>
            <a:ext cx="2716696" cy="3673192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B222B74-C2F2-3D98-D94F-39A86296B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857998"/>
              </p:ext>
            </p:extLst>
          </p:nvPr>
        </p:nvGraphicFramePr>
        <p:xfrm>
          <a:off x="7059129" y="5054643"/>
          <a:ext cx="17843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1784380" imgH="526902" progId="Package">
                  <p:embed/>
                </p:oleObj>
              </mc:Choice>
              <mc:Fallback>
                <p:oleObj name="Packager Shell Object" showAsIcon="1" r:id="rId4" imgW="1784380" imgH="52690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9129" y="5054643"/>
                        <a:ext cx="17843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5657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75B2-8D67-0099-1285-85F3CFAA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436B-98CA-3BF8-E95E-8081317D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7" y="327394"/>
            <a:ext cx="8229600" cy="93681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Conclusion</a:t>
            </a:r>
            <a:br>
              <a:rPr lang="en-US" sz="4000" dirty="0"/>
            </a:br>
            <a:endParaRPr sz="3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C1212A-7173-420F-EA81-FDA512C38CBB}"/>
              </a:ext>
            </a:extLst>
          </p:cNvPr>
          <p:cNvSpPr txBox="1"/>
          <p:nvPr/>
        </p:nvSpPr>
        <p:spPr>
          <a:xfrm>
            <a:off x="368271" y="1411092"/>
            <a:ext cx="84074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ML is powerful too in the clinic risk factor identify and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play a key role for the performance of ML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Even though parameters and different models can be applied to reduce the bias, but there always a trade off between class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Next step: would suggest to get more synthesized data to improve the data quality and try to run the same model to validate the performance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3916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1362</Words>
  <Application>Microsoft Office PowerPoint</Application>
  <PresentationFormat>On-screen Show (4:3)</PresentationFormat>
  <Paragraphs>252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Wingdings</vt:lpstr>
      <vt:lpstr>Office Theme</vt:lpstr>
      <vt:lpstr>Package</vt:lpstr>
      <vt:lpstr>ICU Mortality Prediction Tutorial</vt:lpstr>
      <vt:lpstr>Overview</vt:lpstr>
      <vt:lpstr>Summary</vt:lpstr>
      <vt:lpstr>EDA I Exploratory Data Analysis</vt:lpstr>
      <vt:lpstr>EDA II Exploratory Data Analysis</vt:lpstr>
      <vt:lpstr>EDA III Exploratory Data Analysis</vt:lpstr>
      <vt:lpstr>EDA IV Exploratory Data Analysis</vt:lpstr>
      <vt:lpstr>EDA V Exploratory Data Analysis</vt:lpstr>
      <vt:lpstr>Machine Learning Models </vt:lpstr>
      <vt:lpstr>Codes I </vt:lpstr>
      <vt:lpstr>Codes II </vt:lpstr>
      <vt:lpstr>Codes III </vt:lpstr>
      <vt:lpstr>Result Analysis (Evaluation) I </vt:lpstr>
      <vt:lpstr>Result Analysis (Evaluation) II </vt:lpstr>
      <vt:lpstr>Result Analysis (Evaluation) III </vt:lpstr>
      <vt:lpstr>Result Analysis (Evaluation) IV </vt:lpstr>
      <vt:lpstr>Result Analysis (Evaluation) V </vt:lpstr>
      <vt:lpstr>Result Analysis (Evaluation) VI 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Richard Ma</dc:creator>
  <cp:keywords/>
  <dc:description>generated using python-pptx</dc:description>
  <cp:lastModifiedBy>Yonghua Zhang</cp:lastModifiedBy>
  <cp:revision>89</cp:revision>
  <dcterms:created xsi:type="dcterms:W3CDTF">2013-01-27T09:14:16Z</dcterms:created>
  <dcterms:modified xsi:type="dcterms:W3CDTF">2026-03-11T21:50:18Z</dcterms:modified>
  <cp:category/>
</cp:coreProperties>
</file>