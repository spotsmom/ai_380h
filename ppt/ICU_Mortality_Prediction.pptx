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83" r:id="rId3"/>
    <p:sldId id="257" r:id="rId4"/>
    <p:sldId id="263" r:id="rId5"/>
    <p:sldId id="285" r:id="rId6"/>
    <p:sldId id="286" r:id="rId7"/>
    <p:sldId id="288" r:id="rId8"/>
    <p:sldId id="287" r:id="rId9"/>
    <p:sldId id="290" r:id="rId10"/>
    <p:sldId id="289" r:id="rId11"/>
    <p:sldId id="291" r:id="rId12"/>
    <p:sldId id="292" r:id="rId13"/>
    <p:sldId id="295" r:id="rId14"/>
    <p:sldId id="296" r:id="rId15"/>
    <p:sldId id="294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1280" y="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90AD84-CAA3-420A-BCAF-ACF82C728561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E3141F-2EC1-4965-A570-047C1376BF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880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95C1E-AB7F-3D32-1F44-234AEFEA3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AC82C2-F3FB-3958-F57E-BEAF06E651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5BFD87-D216-0900-CADF-F83F13F281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322707-48DC-7E73-A486-9F448EFF40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E3141F-2EC1-4965-A570-047C1376BF2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2200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E3141F-2EC1-4965-A570-047C1376BF2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1652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E3141F-2EC1-4965-A570-047C1376BF2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8353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ICU Mortality Prediction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Insigh</a:t>
            </a:r>
            <a:r>
              <a:rPr lang="en-US" dirty="0"/>
              <a:t>ts and Comparison of application of NLPs to MIMIC III </a:t>
            </a:r>
            <a:r>
              <a:rPr lang="en-US" dirty="0" err="1"/>
              <a:t>noteevents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E27B0-8647-8DC0-60A9-83E55A8A3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C9388F-AFFC-D66B-8DE5-1A08761100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060" y="434030"/>
            <a:ext cx="8229600" cy="692094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Overview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E9740B-727C-9D81-8C2C-76AC5EA314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741155"/>
            <a:ext cx="8229600" cy="3254291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Summary</a:t>
            </a:r>
          </a:p>
          <a:p>
            <a:r>
              <a:rPr lang="en-US" sz="2400" dirty="0"/>
              <a:t>NLPs Details Analysis</a:t>
            </a:r>
          </a:p>
          <a:p>
            <a:pPr lvl="1"/>
            <a:r>
              <a:rPr lang="en-US" sz="2000" dirty="0"/>
              <a:t>spacy</a:t>
            </a:r>
          </a:p>
          <a:p>
            <a:pPr lvl="1"/>
            <a:r>
              <a:rPr lang="en-US" sz="2000" dirty="0" err="1"/>
              <a:t>scispacy</a:t>
            </a:r>
            <a:r>
              <a:rPr lang="en-US" sz="2000" dirty="0"/>
              <a:t> and bc5cdr</a:t>
            </a:r>
          </a:p>
          <a:p>
            <a:pPr lvl="1"/>
            <a:r>
              <a:rPr lang="en-US" sz="2000" dirty="0" err="1"/>
              <a:t>medspacy</a:t>
            </a:r>
            <a:endParaRPr lang="en-US" sz="2000" dirty="0"/>
          </a:p>
          <a:p>
            <a:r>
              <a:rPr lang="en-US" sz="2400" dirty="0"/>
              <a:t>Comparison between the above NLPs</a:t>
            </a:r>
          </a:p>
          <a:p>
            <a:r>
              <a:rPr lang="en-US" sz="2400" dirty="0" err="1"/>
              <a:t>ClinicalBERT</a:t>
            </a:r>
            <a:endParaRPr lang="en-US" sz="2400" dirty="0"/>
          </a:p>
          <a:p>
            <a:r>
              <a:rPr lang="en-US" sz="2400" dirty="0"/>
              <a:t>Conclusion</a:t>
            </a:r>
          </a:p>
          <a:p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1561365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060" y="434030"/>
            <a:ext cx="8229600" cy="692094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Summary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FCFEB1-4F6C-9688-8B9A-E32CEF0905A7}"/>
              </a:ext>
            </a:extLst>
          </p:cNvPr>
          <p:cNvSpPr txBox="1"/>
          <p:nvPr/>
        </p:nvSpPr>
        <p:spPr>
          <a:xfrm>
            <a:off x="718019" y="1300645"/>
            <a:ext cx="7444075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Dataset: Filtered out </a:t>
            </a:r>
            <a:r>
              <a:rPr lang="en-US" sz="2000" dirty="0" err="1"/>
              <a:t>dischargesummary</a:t>
            </a:r>
            <a:r>
              <a:rPr lang="en-US" sz="2000" dirty="0"/>
              <a:t> event for ICD_CODE =430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Locally installed the required library instead of </a:t>
            </a:r>
            <a:r>
              <a:rPr lang="en-US" sz="2000" dirty="0" err="1"/>
              <a:t>Colab</a:t>
            </a:r>
            <a:r>
              <a:rPr lang="en-US" sz="2000" dirty="0"/>
              <a:t> due to issues @Colab (slowness, memory, session level installation) to achieve better performance and smooth coding experience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Analysis covers Spacy, </a:t>
            </a:r>
            <a:r>
              <a:rPr lang="en-US" sz="2000" dirty="0" err="1"/>
              <a:t>Scispacy</a:t>
            </a:r>
            <a:r>
              <a:rPr lang="en-US" sz="2000" dirty="0"/>
              <a:t>, </a:t>
            </a:r>
            <a:r>
              <a:rPr lang="en-US" sz="2000" dirty="0" err="1"/>
              <a:t>medspacy</a:t>
            </a:r>
            <a:r>
              <a:rPr lang="en-US" sz="2000" dirty="0"/>
              <a:t> and </a:t>
            </a:r>
            <a:r>
              <a:rPr lang="en-US" sz="2000" dirty="0" err="1"/>
              <a:t>ClinicalBERT</a:t>
            </a:r>
            <a:r>
              <a:rPr lang="en-US" sz="2000" dirty="0"/>
              <a:t>, and the detail comparison between spacy, </a:t>
            </a:r>
            <a:r>
              <a:rPr lang="en-US" sz="2000" dirty="0" err="1"/>
              <a:t>scispacy</a:t>
            </a:r>
            <a:r>
              <a:rPr lang="en-US" sz="2000" dirty="0"/>
              <a:t> and </a:t>
            </a:r>
            <a:r>
              <a:rPr lang="en-US" sz="2000" dirty="0" err="1"/>
              <a:t>medspacy</a:t>
            </a:r>
            <a:r>
              <a:rPr lang="en-US" sz="20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Next steps are covered in the conclusion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6867C9F-B010-D4F9-8CA3-CBB533235B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019" y="1796423"/>
            <a:ext cx="7640843" cy="123351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FDFB2-51BE-204D-A2FE-DF2C0BC21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80AB0-5576-3AD9-CE9B-7D42E9F6F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2131" y="327394"/>
            <a:ext cx="8229600" cy="1099820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Spacy</a:t>
            </a:r>
            <a:br>
              <a:rPr lang="en-US" sz="4000" dirty="0"/>
            </a:br>
            <a:r>
              <a:rPr lang="en-US" sz="3100" dirty="0"/>
              <a:t>Model, extracted event label </a:t>
            </a:r>
            <a:endParaRPr sz="31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9F048CD-09E7-914D-F178-501108C3EC83}"/>
              </a:ext>
            </a:extLst>
          </p:cNvPr>
          <p:cNvSpPr txBox="1"/>
          <p:nvPr/>
        </p:nvSpPr>
        <p:spPr>
          <a:xfrm>
            <a:off x="555334" y="1361997"/>
            <a:ext cx="8407457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Model: </a:t>
            </a:r>
            <a:r>
              <a:rPr lang="en-US" sz="2000" dirty="0" err="1"/>
              <a:t>en_core_web_sm</a:t>
            </a:r>
            <a:endParaRPr lang="en-US" sz="2000" dirty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Generated </a:t>
            </a:r>
            <a:r>
              <a:rPr lang="en-US" sz="2000" dirty="0" err="1"/>
              <a:t>Datasize</a:t>
            </a:r>
            <a:r>
              <a:rPr lang="en-US" sz="2000" dirty="0"/>
              <a:t>: 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Extracted Event (label):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0EFD02-3BD7-682D-867E-32F7D97B75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951" y="2752123"/>
            <a:ext cx="2228965" cy="3302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C8D1E7C-FCC8-7BDF-D7B5-00128A7DC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202" y="3515031"/>
            <a:ext cx="6302818" cy="2872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1702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8D760-74CE-E64D-BE3D-31EC383B5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E0976B-53C1-C01A-09AF-3C98AFF69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7" y="327394"/>
            <a:ext cx="8229600" cy="936810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Spacy</a:t>
            </a:r>
            <a:br>
              <a:rPr lang="en-US" sz="4000" dirty="0"/>
            </a:br>
            <a:r>
              <a:rPr lang="en-US" sz="3100" dirty="0"/>
              <a:t>t-SNE based on w2V </a:t>
            </a:r>
            <a:endParaRPr sz="31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034BEA-A089-3497-A575-881BA114E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544" y="4028802"/>
            <a:ext cx="8398912" cy="250180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3DA19B5-D2B7-1460-6A4D-2D062FFE1ABB}"/>
              </a:ext>
            </a:extLst>
          </p:cNvPr>
          <p:cNvSpPr txBox="1"/>
          <p:nvPr/>
        </p:nvSpPr>
        <p:spPr>
          <a:xfrm>
            <a:off x="575776" y="1754759"/>
            <a:ext cx="8407457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Three t-SNE generated based on perp and </a:t>
            </a:r>
            <a:r>
              <a:rPr lang="en-US" sz="2000" dirty="0" err="1"/>
              <a:t>lr</a:t>
            </a:r>
            <a:r>
              <a:rPr lang="en-US" sz="2000" dirty="0"/>
              <a:t> with label as legend, overall, those three set of parameters generates coherent region, with slightly difference: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Perp =10, </a:t>
            </a:r>
            <a:r>
              <a:rPr lang="en-US" sz="2000" dirty="0" err="1"/>
              <a:t>lr</a:t>
            </a:r>
            <a:r>
              <a:rPr lang="en-US" sz="2000" dirty="0"/>
              <a:t>=200 shows small, scattered cluster with high fragmentation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Perp =30, </a:t>
            </a:r>
            <a:r>
              <a:rPr lang="en-US" sz="2000" dirty="0" err="1"/>
              <a:t>lr</a:t>
            </a:r>
            <a:r>
              <a:rPr lang="en-US" sz="2000" dirty="0"/>
              <a:t>=Auto, shows more coherent cluster without over fragmentation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Perp =50, </a:t>
            </a:r>
            <a:r>
              <a:rPr lang="en-US" sz="2000" dirty="0" err="1"/>
              <a:t>lr</a:t>
            </a:r>
            <a:r>
              <a:rPr lang="en-US" sz="2000" dirty="0"/>
              <a:t>=500, shows bit local smooth-out, and broader neighbor. </a:t>
            </a:r>
          </a:p>
          <a:p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7129324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181A9-78FB-F083-1069-330F02DEB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02172-6528-149F-C249-18B441AB0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2131" y="327394"/>
            <a:ext cx="8229600" cy="1099820"/>
          </a:xfrm>
        </p:spPr>
        <p:txBody>
          <a:bodyPr>
            <a:normAutofit fontScale="90000"/>
          </a:bodyPr>
          <a:lstStyle/>
          <a:p>
            <a:r>
              <a:rPr lang="en-US" sz="4000" dirty="0" err="1"/>
              <a:t>Scispacy</a:t>
            </a:r>
            <a:r>
              <a:rPr lang="en-US" sz="4000" dirty="0"/>
              <a:t> &amp; bc5cdr</a:t>
            </a:r>
            <a:br>
              <a:rPr lang="en-US" sz="4000" dirty="0"/>
            </a:br>
            <a:r>
              <a:rPr lang="en-US" sz="3100" dirty="0"/>
              <a:t>Model, extracted event label </a:t>
            </a:r>
            <a:endParaRPr sz="31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3A89BB-048D-FCF8-DE04-7A2E302FDFBD}"/>
              </a:ext>
            </a:extLst>
          </p:cNvPr>
          <p:cNvSpPr txBox="1"/>
          <p:nvPr/>
        </p:nvSpPr>
        <p:spPr>
          <a:xfrm>
            <a:off x="555334" y="1361997"/>
            <a:ext cx="8407457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Model: </a:t>
            </a:r>
            <a:r>
              <a:rPr lang="en-US" dirty="0" err="1"/>
              <a:t>en_core_sci_sm</a:t>
            </a:r>
            <a:r>
              <a:rPr lang="en-US" dirty="0"/>
              <a:t> and en_ner_bc5cdr_mdb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Generated </a:t>
            </a:r>
            <a:r>
              <a:rPr lang="en-US" sz="2000" dirty="0" err="1"/>
              <a:t>Datasize</a:t>
            </a:r>
            <a:r>
              <a:rPr lang="en-US" sz="2000" dirty="0"/>
              <a:t>: 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Extracted Event (label):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35E037-0968-30CD-6947-21390BF1E4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9273" y="2268405"/>
            <a:ext cx="2406774" cy="59058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B54A883-0C81-A94E-0855-3075F6BEB2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45" y="3514916"/>
            <a:ext cx="4839011" cy="287245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A10E8B2-C82E-47EB-14FF-2AC26ED98E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982" y="3514916"/>
            <a:ext cx="3960984" cy="2872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16241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04C9C-7DE3-4FE3-6D70-CAD48946E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AE8EC-0F83-828A-C906-BCF56024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7" y="327394"/>
            <a:ext cx="8229600" cy="936810"/>
          </a:xfrm>
        </p:spPr>
        <p:txBody>
          <a:bodyPr>
            <a:normAutofit fontScale="90000"/>
          </a:bodyPr>
          <a:lstStyle/>
          <a:p>
            <a:r>
              <a:rPr lang="en-US" sz="4000" dirty="0" err="1"/>
              <a:t>Scispacy</a:t>
            </a:r>
            <a:br>
              <a:rPr lang="en-US" sz="4000" dirty="0"/>
            </a:br>
            <a:r>
              <a:rPr lang="en-US" sz="3100" dirty="0"/>
              <a:t>t-SNE based on w2V </a:t>
            </a:r>
            <a:endParaRPr sz="31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AE8175-9762-611B-BECA-CF6BE2BD35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309" y="3312840"/>
            <a:ext cx="8407457" cy="24877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0C94AE2-9DE7-3A56-5C99-F69FC9FA1C04}"/>
              </a:ext>
            </a:extLst>
          </p:cNvPr>
          <p:cNvSpPr txBox="1"/>
          <p:nvPr/>
        </p:nvSpPr>
        <p:spPr>
          <a:xfrm>
            <a:off x="368271" y="1411092"/>
            <a:ext cx="8407457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The default biomedical model only generate one entity type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w2V still generate semantic information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Perp =10, </a:t>
            </a:r>
            <a:r>
              <a:rPr lang="en-US" sz="2000" dirty="0" err="1"/>
              <a:t>lr</a:t>
            </a:r>
            <a:r>
              <a:rPr lang="en-US" sz="2000" dirty="0"/>
              <a:t>=200 shows strong local structure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Perp =30, </a:t>
            </a:r>
            <a:r>
              <a:rPr lang="en-US" sz="2000" dirty="0" err="1"/>
              <a:t>lr</a:t>
            </a:r>
            <a:r>
              <a:rPr lang="en-US" sz="2000" dirty="0"/>
              <a:t>=Auto, shows more balanced with broader neighborhood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Perp =50, </a:t>
            </a:r>
            <a:r>
              <a:rPr lang="en-US" sz="2000" dirty="0" err="1"/>
              <a:t>lr</a:t>
            </a:r>
            <a:r>
              <a:rPr lang="en-US" sz="2000" dirty="0"/>
              <a:t>=500, shows more disperse peripheral points</a:t>
            </a:r>
          </a:p>
          <a:p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0125866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B4597-EB6F-C6C9-A111-7A8D6EE9C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A8979D-120A-0357-C84A-24E263C3A4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7" y="327394"/>
            <a:ext cx="8229600" cy="936810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bc5cdr</a:t>
            </a:r>
            <a:br>
              <a:rPr lang="en-US" sz="4000" dirty="0"/>
            </a:br>
            <a:r>
              <a:rPr lang="en-US" sz="3100" dirty="0"/>
              <a:t>t-SNE based on w2V </a:t>
            </a:r>
            <a:endParaRPr sz="3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210D4FD-570E-132B-2C24-790A5E0112BB}"/>
              </a:ext>
            </a:extLst>
          </p:cNvPr>
          <p:cNvSpPr txBox="1"/>
          <p:nvPr/>
        </p:nvSpPr>
        <p:spPr>
          <a:xfrm>
            <a:off x="-737523" y="1214711"/>
            <a:ext cx="8407457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r>
              <a:rPr lang="en-US" sz="2000" dirty="0"/>
              <a:t> </a:t>
            </a:r>
          </a:p>
          <a:p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endParaRPr lang="en-US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0418DCF-E92D-410D-B62D-32C2ECA99F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884" y="3291386"/>
            <a:ext cx="8557336" cy="249173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ADFDE9B-6F11-05A0-61A1-B055E788F353}"/>
              </a:ext>
            </a:extLst>
          </p:cNvPr>
          <p:cNvSpPr txBox="1"/>
          <p:nvPr/>
        </p:nvSpPr>
        <p:spPr>
          <a:xfrm>
            <a:off x="497203" y="1446597"/>
            <a:ext cx="8407457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The bc5cdr model generate two entity type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Perp =10, </a:t>
            </a:r>
            <a:r>
              <a:rPr lang="en-US" sz="2000" dirty="0" err="1"/>
              <a:t>lr</a:t>
            </a:r>
            <a:r>
              <a:rPr lang="en-US" sz="2000" dirty="0"/>
              <a:t>=200 shows two local blobs, with disease is more </a:t>
            </a:r>
            <a:r>
              <a:rPr lang="en-US" sz="2000" dirty="0" err="1"/>
              <a:t>spreadout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Perp =30, </a:t>
            </a:r>
            <a:r>
              <a:rPr lang="en-US" sz="2000" dirty="0" err="1"/>
              <a:t>lr</a:t>
            </a:r>
            <a:r>
              <a:rPr lang="en-US" sz="2000" dirty="0"/>
              <a:t>=Auto, shows less noise and more clearly defined two blobs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Perp =50, </a:t>
            </a:r>
            <a:r>
              <a:rPr lang="en-US" sz="2000" dirty="0" err="1"/>
              <a:t>lr</a:t>
            </a:r>
            <a:r>
              <a:rPr lang="en-US" sz="2000" dirty="0"/>
              <a:t>=500, shows disease is more </a:t>
            </a:r>
            <a:r>
              <a:rPr lang="en-US" sz="2000" dirty="0" err="1"/>
              <a:t>broaderly</a:t>
            </a:r>
            <a:r>
              <a:rPr lang="en-US" sz="2000" dirty="0"/>
              <a:t> </a:t>
            </a:r>
            <a:r>
              <a:rPr lang="en-US" sz="2000" dirty="0" err="1"/>
              <a:t>spreadout</a:t>
            </a:r>
            <a:r>
              <a:rPr lang="en-US" sz="2000" dirty="0"/>
              <a:t>, but two blobs still hold</a:t>
            </a:r>
          </a:p>
          <a:p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0236019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6B36A-7AAF-C4CE-226E-BB05079C39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3F09E-7159-372D-6B9F-18AD693A0A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2131" y="327394"/>
            <a:ext cx="8229600" cy="1099820"/>
          </a:xfrm>
        </p:spPr>
        <p:txBody>
          <a:bodyPr>
            <a:normAutofit fontScale="90000"/>
          </a:bodyPr>
          <a:lstStyle/>
          <a:p>
            <a:r>
              <a:rPr lang="en-US" sz="4000" dirty="0" err="1"/>
              <a:t>Medspacy</a:t>
            </a:r>
            <a:br>
              <a:rPr lang="en-US" sz="4000" dirty="0"/>
            </a:br>
            <a:r>
              <a:rPr lang="en-US" sz="3100" dirty="0"/>
              <a:t>Model, extracted event label </a:t>
            </a:r>
            <a:endParaRPr sz="31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5B6A6C-BF6E-D1DB-C26E-183FCDDE5A32}"/>
              </a:ext>
            </a:extLst>
          </p:cNvPr>
          <p:cNvSpPr txBox="1"/>
          <p:nvPr/>
        </p:nvSpPr>
        <p:spPr>
          <a:xfrm>
            <a:off x="555334" y="1361997"/>
            <a:ext cx="8407457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Model: </a:t>
            </a:r>
            <a:r>
              <a:rPr lang="en-US" dirty="0"/>
              <a:t>add target rules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Generated </a:t>
            </a:r>
            <a:r>
              <a:rPr lang="en-US" sz="2000" dirty="0" err="1"/>
              <a:t>Datasize</a:t>
            </a:r>
            <a:r>
              <a:rPr lang="en-US" sz="2000" dirty="0"/>
              <a:t>: 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Extracted Event (label):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1EC9662-5B66-4CEF-299C-14AF1A40E0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947" y="1998398"/>
            <a:ext cx="4544438" cy="109982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54CDF63-A032-9FC3-FB41-17EB900992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034" y="3533780"/>
            <a:ext cx="1943200" cy="20956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392A3ED-5C61-2191-4EBE-7DA99DD11B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947" y="4351071"/>
            <a:ext cx="7074264" cy="2317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32746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6CD11-E212-D549-F6C0-EC0F817F9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32E2B2-8BA0-28BD-13CC-DBA24BA56F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7" y="327394"/>
            <a:ext cx="8229600" cy="936810"/>
          </a:xfrm>
        </p:spPr>
        <p:txBody>
          <a:bodyPr>
            <a:normAutofit fontScale="90000"/>
          </a:bodyPr>
          <a:lstStyle/>
          <a:p>
            <a:r>
              <a:rPr lang="en-US" sz="4000" dirty="0" err="1"/>
              <a:t>Medspacy</a:t>
            </a:r>
            <a:br>
              <a:rPr lang="en-US" sz="4000" dirty="0"/>
            </a:br>
            <a:r>
              <a:rPr lang="en-US" sz="3100" dirty="0"/>
              <a:t>t-SNE based on w2V </a:t>
            </a:r>
            <a:endParaRPr sz="3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A990A6-FB9A-6294-8AC3-209F722D9FA2}"/>
              </a:ext>
            </a:extLst>
          </p:cNvPr>
          <p:cNvSpPr txBox="1"/>
          <p:nvPr/>
        </p:nvSpPr>
        <p:spPr>
          <a:xfrm>
            <a:off x="368271" y="1411092"/>
            <a:ext cx="840745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Three entity types are generated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Very small datapoints, it is bit hard to get the t-SNE, but with those three parameters, can still show when more local for Perp =10, </a:t>
            </a:r>
            <a:r>
              <a:rPr lang="en-US" sz="2000" dirty="0" err="1"/>
              <a:t>lr</a:t>
            </a:r>
            <a:r>
              <a:rPr lang="en-US" sz="2000" dirty="0"/>
              <a:t>=200; broader for Perp =50, </a:t>
            </a:r>
            <a:r>
              <a:rPr lang="en-US" sz="2000" dirty="0" err="1"/>
              <a:t>lr</a:t>
            </a:r>
            <a:r>
              <a:rPr lang="en-US" sz="2000" dirty="0"/>
              <a:t>=500 and moderate for Perp =30, </a:t>
            </a:r>
            <a:r>
              <a:rPr lang="en-US" sz="2000" dirty="0" err="1"/>
              <a:t>lr</a:t>
            </a:r>
            <a:r>
              <a:rPr lang="en-US" sz="2000" dirty="0"/>
              <a:t>=Auto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endParaRPr lang="en-US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476D116-819C-2B14-D4EC-F901BC8262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270" y="3134189"/>
            <a:ext cx="8407458" cy="2475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11515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161CC-F5ED-CEA9-BD6B-EDAB1E1313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EC713-7690-3D8F-4BD5-26DD02460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7" y="327394"/>
            <a:ext cx="8229600" cy="936810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Comparison between NLPs</a:t>
            </a:r>
            <a:br>
              <a:rPr lang="en-US" sz="4000" dirty="0"/>
            </a:br>
            <a:r>
              <a:rPr lang="en-US" sz="3100" dirty="0"/>
              <a:t>Dataset – build unified entity table</a:t>
            </a:r>
            <a:endParaRPr sz="3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B09B47-00C7-EBF6-E219-DD747D1520AF}"/>
              </a:ext>
            </a:extLst>
          </p:cNvPr>
          <p:cNvSpPr txBox="1"/>
          <p:nvPr/>
        </p:nvSpPr>
        <p:spPr>
          <a:xfrm>
            <a:off x="368271" y="1411092"/>
            <a:ext cx="840745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Selected sample data from spacy, </a:t>
            </a:r>
            <a:r>
              <a:rPr lang="en-US" sz="2000" dirty="0" err="1"/>
              <a:t>scispacy</a:t>
            </a:r>
            <a:r>
              <a:rPr lang="en-US" sz="2000" dirty="0"/>
              <a:t> and </a:t>
            </a:r>
            <a:r>
              <a:rPr lang="en-US" sz="2000" dirty="0" err="1"/>
              <a:t>medspacy</a:t>
            </a:r>
            <a:r>
              <a:rPr lang="en-US" sz="2000" dirty="0"/>
              <a:t> and create one unified dataset and labeled with corresponding source</a:t>
            </a:r>
          </a:p>
          <a:p>
            <a:endParaRPr lang="en-US" sz="2000" dirty="0"/>
          </a:p>
          <a:p>
            <a:endParaRPr lang="en-US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7C5EC1-D508-11C5-AC93-D8458D69DE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361" y="2374985"/>
            <a:ext cx="8325278" cy="3152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89358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9DE3A-420B-6379-B4D4-555819D59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81572-5120-4AB3-016A-452533F27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7" y="327394"/>
            <a:ext cx="8229600" cy="936810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Comparison between NLPs</a:t>
            </a:r>
            <a:br>
              <a:rPr lang="en-US" sz="4000" dirty="0"/>
            </a:br>
            <a:r>
              <a:rPr lang="en-US" sz="3100" dirty="0"/>
              <a:t>t-SNE based on w2V</a:t>
            </a:r>
            <a:endParaRPr sz="3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A27527-9729-4497-5C56-30E8F16A4742}"/>
              </a:ext>
            </a:extLst>
          </p:cNvPr>
          <p:cNvSpPr txBox="1"/>
          <p:nvPr/>
        </p:nvSpPr>
        <p:spPr>
          <a:xfrm>
            <a:off x="368271" y="1411092"/>
            <a:ext cx="8407457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Legend is based on the NLPs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All mixed together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Parameter perp and </a:t>
            </a:r>
            <a:r>
              <a:rPr lang="en-US" sz="2000" dirty="0" err="1"/>
              <a:t>lr</a:t>
            </a:r>
            <a:r>
              <a:rPr lang="en-US" sz="2000" dirty="0"/>
              <a:t> changes shape only, but no impact to the point separation, strong </a:t>
            </a:r>
            <a:r>
              <a:rPr lang="en-US" sz="2000" dirty="0" err="1"/>
              <a:t>loverlap</a:t>
            </a:r>
            <a:endParaRPr lang="en-US" sz="2000" dirty="0"/>
          </a:p>
          <a:p>
            <a:endParaRPr lang="en-US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BE46D45-1701-7BFB-878F-90580B61F6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96" y="3068544"/>
            <a:ext cx="9144000" cy="2819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58162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55C51-BAA8-B7B0-9912-DE563CE23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5E2DE-6AD2-57BE-457B-58E38DBFE4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7" y="327394"/>
            <a:ext cx="8229600" cy="936810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Comparison between NLPs</a:t>
            </a:r>
            <a:br>
              <a:rPr lang="en-US" sz="4000" dirty="0"/>
            </a:br>
            <a:r>
              <a:rPr lang="en-US" sz="3100" dirty="0"/>
              <a:t>UMAP</a:t>
            </a:r>
            <a:endParaRPr sz="3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204839-78F4-E929-BFC7-8A1EF57F4CDB}"/>
              </a:ext>
            </a:extLst>
          </p:cNvPr>
          <p:cNvSpPr txBox="1"/>
          <p:nvPr/>
        </p:nvSpPr>
        <p:spPr>
          <a:xfrm>
            <a:off x="368271" y="1411092"/>
            <a:ext cx="84074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UMAP produces a high-density core and low-density perimeter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Show similarity extraction between those NLPs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9BC4CF-202F-2F3F-1FC4-2E4B587C90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270" y="2317611"/>
            <a:ext cx="5467350" cy="4058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377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3533A-F5ED-82BF-A727-3DDC2E400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A3761-B67C-2C26-81F2-AB6827A41F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7" y="327394"/>
            <a:ext cx="8229600" cy="936810"/>
          </a:xfrm>
        </p:spPr>
        <p:txBody>
          <a:bodyPr>
            <a:normAutofit/>
          </a:bodyPr>
          <a:lstStyle/>
          <a:p>
            <a:r>
              <a:rPr lang="en-US" sz="4000" dirty="0" err="1"/>
              <a:t>ClinicalBERT</a:t>
            </a:r>
            <a:endParaRPr sz="3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3BB3D6-3F98-E03F-9343-C36D25766D04}"/>
              </a:ext>
            </a:extLst>
          </p:cNvPr>
          <p:cNvSpPr txBox="1"/>
          <p:nvPr/>
        </p:nvSpPr>
        <p:spPr>
          <a:xfrm>
            <a:off x="368271" y="1103683"/>
            <a:ext cx="840745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Model: </a:t>
            </a:r>
            <a:r>
              <a:rPr lang="en-US" sz="2000" dirty="0" err="1"/>
              <a:t>emilyalsentzer</a:t>
            </a:r>
            <a:r>
              <a:rPr lang="en-US" sz="2000" dirty="0"/>
              <a:t>/</a:t>
            </a:r>
            <a:r>
              <a:rPr lang="en-US" sz="2000" dirty="0" err="1"/>
              <a:t>Bio_ClinicalBERT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err="1"/>
              <a:t>ClinicalBERT</a:t>
            </a:r>
            <a:r>
              <a:rPr lang="en-US" sz="2000" dirty="0"/>
              <a:t> Embedding K-mean cluster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Most coherent cluster: red (3)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Green one spread out the most (2)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Purple one is the smallest one near the edge (4) – maybe represent rare case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B33913-65B9-02E1-FB65-385C7D9F48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9043" y="3197332"/>
            <a:ext cx="4995447" cy="3415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80093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275B2-8D67-0099-1285-85F3CFAA4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7436B-98CA-3BF8-E95E-8081317D99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7" y="327394"/>
            <a:ext cx="8229600" cy="936810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Conclusion</a:t>
            </a:r>
            <a:br>
              <a:rPr lang="en-US" sz="4000" dirty="0"/>
            </a:br>
            <a:endParaRPr sz="3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C1212A-7173-420F-EA81-FDA512C38CBB}"/>
              </a:ext>
            </a:extLst>
          </p:cNvPr>
          <p:cNvSpPr txBox="1"/>
          <p:nvPr/>
        </p:nvSpPr>
        <p:spPr>
          <a:xfrm>
            <a:off x="368271" y="1411092"/>
            <a:ext cx="8407457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A very good learning experience, covers multiple NLPs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Struggle with the </a:t>
            </a:r>
            <a:r>
              <a:rPr lang="en-US" sz="2000" dirty="0" err="1"/>
              <a:t>Colab</a:t>
            </a:r>
            <a:r>
              <a:rPr lang="en-US" sz="2000" dirty="0"/>
              <a:t>, </a:t>
            </a:r>
            <a:r>
              <a:rPr lang="en-US" sz="2000" dirty="0" err="1"/>
              <a:t>eventuall</a:t>
            </a:r>
            <a:r>
              <a:rPr lang="en-US" sz="2000" dirty="0"/>
              <a:t> gave up and did coding locally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Comparison is the hardest part, given the distribution, what driven the pattern is worth more analysis and research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Next step is to continue explore with more/different note data to analyze impact of the NLP to the MIMIC clinical data.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5739167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975</TotalTime>
  <Words>650</Words>
  <Application>Microsoft Office PowerPoint</Application>
  <PresentationFormat>On-screen Show (4:3)</PresentationFormat>
  <Paragraphs>82</Paragraphs>
  <Slides>15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Arial</vt:lpstr>
      <vt:lpstr>Calibri</vt:lpstr>
      <vt:lpstr>Office Theme</vt:lpstr>
      <vt:lpstr>ICU Mortality Prediction</vt:lpstr>
      <vt:lpstr>Overview</vt:lpstr>
      <vt:lpstr>Summary</vt:lpstr>
      <vt:lpstr>Spacy Model, extracted event label </vt:lpstr>
      <vt:lpstr>Spacy t-SNE based on w2V </vt:lpstr>
      <vt:lpstr>Scispacy &amp; bc5cdr Model, extracted event label </vt:lpstr>
      <vt:lpstr>Scispacy t-SNE based on w2V </vt:lpstr>
      <vt:lpstr>bc5cdr t-SNE based on w2V </vt:lpstr>
      <vt:lpstr>Medspacy Model, extracted event label </vt:lpstr>
      <vt:lpstr>Medspacy t-SNE based on w2V </vt:lpstr>
      <vt:lpstr>Comparison between NLPs Dataset – build unified entity table</vt:lpstr>
      <vt:lpstr>Comparison between NLPs t-SNE based on w2V</vt:lpstr>
      <vt:lpstr>Comparison between NLPs UMAP</vt:lpstr>
      <vt:lpstr>ClinicalBERT</vt:lpstr>
      <vt:lpstr>Conclusion 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Richard Ma</dc:creator>
  <cp:keywords/>
  <dc:description>generated using python-pptx</dc:description>
  <cp:lastModifiedBy>Yonghua Zhang</cp:lastModifiedBy>
  <cp:revision>39</cp:revision>
  <dcterms:created xsi:type="dcterms:W3CDTF">2013-01-27T09:14:16Z</dcterms:created>
  <dcterms:modified xsi:type="dcterms:W3CDTF">2026-03-11T18:47:58Z</dcterms:modified>
  <cp:category/>
</cp:coreProperties>
</file>